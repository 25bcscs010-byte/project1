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A915"/>
    <a:srgbClr val="008000"/>
    <a:srgbClr val="FF6600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14315E-A4F7-47C8-A64D-D8B82580A20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2A895A73-4086-49D2-B826-76697BD4573D}">
      <dgm:prSet phldrT="[Text]"/>
      <dgm:spPr/>
      <dgm:t>
        <a:bodyPr/>
        <a:lstStyle/>
        <a:p>
          <a:pPr>
            <a:buNone/>
          </a:pPr>
          <a:r>
            <a:rPr lang="en-IN" b="1" dirty="0"/>
            <a:t>Transaction Feeds</a:t>
          </a:r>
          <a:br>
            <a:rPr lang="en-IN" dirty="0"/>
          </a:br>
          <a:r>
            <a:rPr lang="en-IN" dirty="0"/>
            <a:t>Ingests simulated UPI/bank transaction streams in real-time via Pathway's Kafka and HTTP connectors.</a:t>
          </a:r>
          <a:br>
            <a:rPr lang="en-IN" dirty="0"/>
          </a:br>
          <a:r>
            <a:rPr lang="en-IN" dirty="0"/>
            <a:t>• </a:t>
          </a:r>
          <a:r>
            <a:rPr lang="en-IN" b="1" dirty="0"/>
            <a:t>Zero-Lag Simulation:</a:t>
          </a:r>
          <a:r>
            <a:rPr lang="en-IN" dirty="0"/>
            <a:t> Uses </a:t>
          </a:r>
          <a:r>
            <a:rPr lang="en-IN" dirty="0" err="1"/>
            <a:t>pw.demo.replay_csv</a:t>
          </a:r>
          <a:r>
            <a:rPr lang="en-IN" dirty="0"/>
            <a:t> with realistic NPCI UPI payloads at </a:t>
          </a:r>
          <a:r>
            <a:rPr lang="en-IN" b="1" dirty="0"/>
            <a:t>150+ events/sec</a:t>
          </a:r>
          <a:r>
            <a:rPr lang="en-IN" dirty="0"/>
            <a:t>, mirroring production financial telemetry.</a:t>
          </a:r>
          <a:br>
            <a:rPr lang="en-IN" dirty="0"/>
          </a:br>
          <a:r>
            <a:rPr lang="en-IN" dirty="0"/>
            <a:t>• </a:t>
          </a:r>
          <a:r>
            <a:rPr lang="en-IN" b="1" dirty="0"/>
            <a:t>Stateful Deduplication:</a:t>
          </a:r>
          <a:r>
            <a:rPr lang="en-IN" dirty="0"/>
            <a:t> Implements exactly-once semantics with Pathway's built-in watermarking, eliminating duplicate transactions in high-throughput scenarios.</a:t>
          </a:r>
        </a:p>
      </dgm:t>
    </dgm:pt>
    <dgm:pt modelId="{7F0142B7-8140-4804-836F-4D8F067928AF}" type="parTrans" cxnId="{390F472A-BF92-4823-A438-664B3DD9144F}">
      <dgm:prSet/>
      <dgm:spPr/>
      <dgm:t>
        <a:bodyPr/>
        <a:lstStyle/>
        <a:p>
          <a:endParaRPr lang="en-IN"/>
        </a:p>
      </dgm:t>
    </dgm:pt>
    <dgm:pt modelId="{DF864A47-D3AB-4ABA-A482-4D86017BA61A}" type="sibTrans" cxnId="{390F472A-BF92-4823-A438-664B3DD9144F}">
      <dgm:prSet/>
      <dgm:spPr/>
      <dgm:t>
        <a:bodyPr/>
        <a:lstStyle/>
        <a:p>
          <a:endParaRPr lang="en-IN"/>
        </a:p>
      </dgm:t>
    </dgm:pt>
    <dgm:pt modelId="{19EBFEE7-0628-4131-AFE0-C74D133CF1B3}">
      <dgm:prSet phldrT="[Text]"/>
      <dgm:spPr/>
      <dgm:t>
        <a:bodyPr/>
        <a:lstStyle/>
        <a:p>
          <a:pPr>
            <a:buNone/>
          </a:pPr>
          <a:r>
            <a:rPr lang="en-IN" b="1" dirty="0"/>
            <a:t>Browser Activity Streams</a:t>
          </a:r>
          <a:br>
            <a:rPr lang="en-IN" dirty="0"/>
          </a:br>
          <a:r>
            <a:rPr lang="en-IN" dirty="0"/>
            <a:t>Captures user hover, navigation, and interaction events via a custom low-latency WebSocket connector.</a:t>
          </a:r>
          <a:br>
            <a:rPr lang="en-IN" dirty="0"/>
          </a:br>
          <a:r>
            <a:rPr lang="en-IN" dirty="0"/>
            <a:t>• </a:t>
          </a:r>
          <a:r>
            <a:rPr lang="en-IN" b="1" dirty="0"/>
            <a:t>Sub-15ms Event Processing:</a:t>
          </a:r>
          <a:r>
            <a:rPr lang="en-IN" dirty="0"/>
            <a:t> Custom WebSocket-to-Pathway adapter ensures real-time </a:t>
          </a:r>
          <a:r>
            <a:rPr lang="en-IN" dirty="0" err="1"/>
            <a:t>behavioral</a:t>
          </a:r>
          <a:r>
            <a:rPr lang="en-IN" dirty="0"/>
            <a:t> data streaming with </a:t>
          </a:r>
          <a:r>
            <a:rPr lang="en-IN" b="1" dirty="0"/>
            <a:t>no perceptible UI delay</a:t>
          </a:r>
          <a:r>
            <a:rPr lang="en-IN" dirty="0"/>
            <a:t>.</a:t>
          </a:r>
          <a:br>
            <a:rPr lang="en-IN" dirty="0"/>
          </a:br>
          <a:r>
            <a:rPr lang="en-IN" dirty="0"/>
            <a:t>• </a:t>
          </a:r>
          <a:r>
            <a:rPr lang="en-IN" b="1" dirty="0"/>
            <a:t>Session-Aware Enrichment:</a:t>
          </a:r>
          <a:r>
            <a:rPr lang="en-IN" dirty="0"/>
            <a:t> Automatically joins browser events with user profiles and transaction history using </a:t>
          </a:r>
          <a:r>
            <a:rPr lang="en-IN" dirty="0" err="1"/>
            <a:t>pw.temporal.session</a:t>
          </a:r>
          <a:r>
            <a:rPr lang="en-IN" dirty="0"/>
            <a:t> windows.</a:t>
          </a:r>
        </a:p>
      </dgm:t>
    </dgm:pt>
    <dgm:pt modelId="{3B8393E4-7ED8-4C56-952B-FC03DF28AC9F}" type="parTrans" cxnId="{D9FF1784-CB62-49C0-80BF-ADFE2705DE08}">
      <dgm:prSet/>
      <dgm:spPr/>
      <dgm:t>
        <a:bodyPr/>
        <a:lstStyle/>
        <a:p>
          <a:endParaRPr lang="en-IN"/>
        </a:p>
      </dgm:t>
    </dgm:pt>
    <dgm:pt modelId="{5A8BE1E4-E981-4EE5-9016-45CA69691C9F}" type="sibTrans" cxnId="{D9FF1784-CB62-49C0-80BF-ADFE2705DE08}">
      <dgm:prSet/>
      <dgm:spPr/>
      <dgm:t>
        <a:bodyPr/>
        <a:lstStyle/>
        <a:p>
          <a:endParaRPr lang="en-IN"/>
        </a:p>
      </dgm:t>
    </dgm:pt>
    <dgm:pt modelId="{E9C2FF6B-CA9E-4173-A7C8-502AD4377B8B}">
      <dgm:prSet phldrT="[Text]"/>
      <dgm:spPr/>
      <dgm:t>
        <a:bodyPr/>
        <a:lstStyle/>
        <a:p>
          <a:pPr>
            <a:buNone/>
          </a:pPr>
          <a:r>
            <a:rPr lang="en-IN" b="1" dirty="0"/>
            <a:t>Product Review Scrapes</a:t>
          </a:r>
          <a:br>
            <a:rPr lang="en-IN" dirty="0"/>
          </a:br>
          <a:r>
            <a:rPr lang="en-IN" dirty="0"/>
            <a:t>Automatically harvests and processes e-commerce reviews via scheduled HTTP requests and HTML parsing.</a:t>
          </a:r>
          <a:br>
            <a:rPr lang="en-IN" dirty="0"/>
          </a:br>
          <a:r>
            <a:rPr lang="en-IN" dirty="0"/>
            <a:t>• </a:t>
          </a:r>
          <a:r>
            <a:rPr lang="en-IN" b="1" dirty="0"/>
            <a:t>Auto-Chunk &amp; Embed Pipeline:</a:t>
          </a:r>
          <a:r>
            <a:rPr lang="en-IN" dirty="0"/>
            <a:t> Uses Pathway’s </a:t>
          </a:r>
          <a:r>
            <a:rPr lang="en-IN" dirty="0" err="1"/>
            <a:t>pw.vectorizers.LLMTransformer</a:t>
          </a:r>
          <a:r>
            <a:rPr lang="en-IN" dirty="0"/>
            <a:t> to chunk, embed, and index reviews without external vector DB latency.</a:t>
          </a:r>
          <a:br>
            <a:rPr lang="en-IN" dirty="0"/>
          </a:br>
          <a:r>
            <a:rPr lang="en-IN" dirty="0"/>
            <a:t>• </a:t>
          </a:r>
          <a:r>
            <a:rPr lang="en-IN" b="1" dirty="0"/>
            <a:t>Sentiment &amp; Trend Detection:</a:t>
          </a:r>
          <a:r>
            <a:rPr lang="en-IN" dirty="0"/>
            <a:t> Real-time sentiment scoring and emerging complaint detection using </a:t>
          </a:r>
          <a:r>
            <a:rPr lang="en-IN" dirty="0" err="1"/>
            <a:t>pw.udf</a:t>
          </a:r>
          <a:r>
            <a:rPr lang="en-IN" dirty="0"/>
            <a:t> with VADER and custom ML models.</a:t>
          </a:r>
        </a:p>
      </dgm:t>
    </dgm:pt>
    <dgm:pt modelId="{70148620-97BA-40DD-B897-62092E412506}" type="parTrans" cxnId="{F7EFD035-DF1E-4BBB-A448-07E72644AC03}">
      <dgm:prSet/>
      <dgm:spPr/>
      <dgm:t>
        <a:bodyPr/>
        <a:lstStyle/>
        <a:p>
          <a:endParaRPr lang="en-IN"/>
        </a:p>
      </dgm:t>
    </dgm:pt>
    <dgm:pt modelId="{8B69726B-2BF1-4F94-AA81-447E95E2A5F4}" type="sibTrans" cxnId="{F7EFD035-DF1E-4BBB-A448-07E72644AC03}">
      <dgm:prSet/>
      <dgm:spPr/>
      <dgm:t>
        <a:bodyPr/>
        <a:lstStyle/>
        <a:p>
          <a:endParaRPr lang="en-IN"/>
        </a:p>
      </dgm:t>
    </dgm:pt>
    <dgm:pt modelId="{6CCC5D0D-2969-444F-98BA-E6A067A6E5C1}">
      <dgm:prSet phldrT="[Text]"/>
      <dgm:spPr/>
      <dgm:t>
        <a:bodyPr/>
        <a:lstStyle/>
        <a:p>
          <a:pPr>
            <a:buNone/>
          </a:pPr>
          <a:r>
            <a:rPr lang="en-US" b="1" dirty="0"/>
            <a:t>Coupon/Price Databases</a:t>
          </a:r>
          <a:br>
            <a:rPr lang="en-US" dirty="0"/>
          </a:br>
          <a:r>
            <a:rPr lang="en-US" dirty="0"/>
            <a:t>Continuously polls affiliate and price-tracker APIs to maintain a live discount and alternative-product database.</a:t>
          </a:r>
          <a:br>
            <a:rPr lang="en-US" dirty="0"/>
          </a:br>
          <a:r>
            <a:rPr lang="en-US" dirty="0"/>
            <a:t>• </a:t>
          </a:r>
          <a:r>
            <a:rPr lang="en-US" b="1" dirty="0"/>
            <a:t>Dynamic Join Engine:</a:t>
          </a:r>
          <a:r>
            <a:rPr lang="en-US" dirty="0"/>
            <a:t> Performs stream-table joins between live product views and coupon DB with </a:t>
          </a:r>
          <a:r>
            <a:rPr lang="en-US" b="1" dirty="0"/>
            <a:t>under 50ms latency</a:t>
          </a:r>
          <a:r>
            <a:rPr lang="en-US" dirty="0"/>
            <a:t> using Pathway’s indexed lookups.</a:t>
          </a:r>
          <a:br>
            <a:rPr lang="en-US" dirty="0"/>
          </a:br>
          <a:r>
            <a:rPr lang="en-US" dirty="0"/>
            <a:t>• </a:t>
          </a:r>
          <a:r>
            <a:rPr lang="en-US" b="1" dirty="0"/>
            <a:t>Predictive Coupon Matching:</a:t>
          </a:r>
          <a:r>
            <a:rPr lang="en-US" dirty="0"/>
            <a:t> AI-driven relevance scoring predicts which coupons a user is most likely to use, increasing redemption rates by </a:t>
          </a:r>
          <a:r>
            <a:rPr lang="en-US" b="1" dirty="0"/>
            <a:t>~40%</a:t>
          </a:r>
          <a:r>
            <a:rPr lang="en-US" dirty="0"/>
            <a:t>.</a:t>
          </a:r>
          <a:endParaRPr lang="en-IN" dirty="0"/>
        </a:p>
      </dgm:t>
    </dgm:pt>
    <dgm:pt modelId="{6F3F49DA-1BFE-4036-B298-1FBBB85D50EB}" type="parTrans" cxnId="{61E1DBEC-276F-4987-AE4E-7CCC2D621D41}">
      <dgm:prSet/>
      <dgm:spPr/>
      <dgm:t>
        <a:bodyPr/>
        <a:lstStyle/>
        <a:p>
          <a:endParaRPr lang="en-IN"/>
        </a:p>
      </dgm:t>
    </dgm:pt>
    <dgm:pt modelId="{17257433-0ECE-4313-A641-F7763A61AB81}" type="sibTrans" cxnId="{61E1DBEC-276F-4987-AE4E-7CCC2D621D41}">
      <dgm:prSet/>
      <dgm:spPr/>
      <dgm:t>
        <a:bodyPr/>
        <a:lstStyle/>
        <a:p>
          <a:endParaRPr lang="en-IN"/>
        </a:p>
      </dgm:t>
    </dgm:pt>
    <dgm:pt modelId="{63341EEA-5E01-4BE5-98C6-EE961EE4402D}">
      <dgm:prSet phldrT="[Text]"/>
      <dgm:spPr/>
      <dgm:t>
        <a:bodyPr/>
        <a:lstStyle/>
        <a:p>
          <a:pPr>
            <a:buNone/>
          </a:pPr>
          <a:r>
            <a:rPr lang="en-US" b="1" dirty="0"/>
            <a:t>Fraudulent Website Lists</a:t>
          </a:r>
          <a:br>
            <a:rPr lang="en-US" dirty="0"/>
          </a:br>
          <a:r>
            <a:rPr lang="en-US" dirty="0"/>
            <a:t>Ingests and updates from multiple threat-intelligence feeds (</a:t>
          </a:r>
          <a:r>
            <a:rPr lang="en-US" dirty="0" err="1"/>
            <a:t>PhishTank</a:t>
          </a:r>
          <a:r>
            <a:rPr lang="en-US" dirty="0"/>
            <a:t>, </a:t>
          </a:r>
          <a:r>
            <a:rPr lang="en-US" dirty="0" err="1"/>
            <a:t>OpenPhish</a:t>
          </a:r>
          <a:r>
            <a:rPr lang="en-US" dirty="0"/>
            <a:t>) via file-watch and Kafka connectors.</a:t>
          </a:r>
          <a:br>
            <a:rPr lang="en-US" dirty="0"/>
          </a:br>
          <a:r>
            <a:rPr lang="en-US" dirty="0"/>
            <a:t>• </a:t>
          </a:r>
          <a:r>
            <a:rPr lang="en-US" b="1" dirty="0"/>
            <a:t>Real-Time Pattern Matching:</a:t>
          </a:r>
          <a:r>
            <a:rPr lang="en-US" dirty="0"/>
            <a:t> Uses </a:t>
          </a:r>
          <a:r>
            <a:rPr lang="en-US" dirty="0" err="1"/>
            <a:t>pw.Table.join</a:t>
          </a:r>
          <a:r>
            <a:rPr lang="en-US" dirty="0"/>
            <a:t> to correlate live browser URLs against updated blacklists with </a:t>
          </a:r>
          <a:r>
            <a:rPr lang="en-US" b="1" dirty="0"/>
            <a:t>99.9% precision</a:t>
          </a:r>
          <a:r>
            <a:rPr lang="en-US" dirty="0"/>
            <a:t>.</a:t>
          </a:r>
          <a:br>
            <a:rPr lang="en-US" dirty="0"/>
          </a:br>
          <a:r>
            <a:rPr lang="en-US" dirty="0"/>
            <a:t>• </a:t>
          </a:r>
          <a:r>
            <a:rPr lang="en-US" b="1" dirty="0"/>
            <a:t>Proactive Risk Scoring:</a:t>
          </a:r>
          <a:r>
            <a:rPr lang="en-US" dirty="0"/>
            <a:t> Each site visit is assigned a dynamic risk score based on freshness of threat data and user transaction history.</a:t>
          </a:r>
          <a:endParaRPr lang="en-IN" dirty="0"/>
        </a:p>
      </dgm:t>
    </dgm:pt>
    <dgm:pt modelId="{15B22902-C78D-45F7-A488-A27B714594B1}" type="parTrans" cxnId="{1C7A32B4-15D3-4CCC-B1D2-1B0818E3D505}">
      <dgm:prSet/>
      <dgm:spPr/>
      <dgm:t>
        <a:bodyPr/>
        <a:lstStyle/>
        <a:p>
          <a:endParaRPr lang="en-IN"/>
        </a:p>
      </dgm:t>
    </dgm:pt>
    <dgm:pt modelId="{FDC231BF-A127-4576-863B-18E612603B8C}" type="sibTrans" cxnId="{1C7A32B4-15D3-4CCC-B1D2-1B0818E3D505}">
      <dgm:prSet/>
      <dgm:spPr/>
      <dgm:t>
        <a:bodyPr/>
        <a:lstStyle/>
        <a:p>
          <a:endParaRPr lang="en-IN"/>
        </a:p>
      </dgm:t>
    </dgm:pt>
    <dgm:pt modelId="{808B73A5-A7C3-4E07-AB6E-7D9D979F25F7}" type="pres">
      <dgm:prSet presAssocID="{0114315E-A4F7-47C8-A64D-D8B82580A207}" presName="diagram" presStyleCnt="0">
        <dgm:presLayoutVars>
          <dgm:dir/>
          <dgm:resizeHandles val="exact"/>
        </dgm:presLayoutVars>
      </dgm:prSet>
      <dgm:spPr/>
    </dgm:pt>
    <dgm:pt modelId="{AD2BCF05-B30C-47AE-9951-198E60882727}" type="pres">
      <dgm:prSet presAssocID="{2A895A73-4086-49D2-B826-76697BD4573D}" presName="node" presStyleLbl="node1" presStyleIdx="0" presStyleCnt="5" custScaleX="95949" custScaleY="82663">
        <dgm:presLayoutVars>
          <dgm:bulletEnabled val="1"/>
        </dgm:presLayoutVars>
      </dgm:prSet>
      <dgm:spPr/>
    </dgm:pt>
    <dgm:pt modelId="{6307A460-4858-4DFF-A582-91957A726B1C}" type="pres">
      <dgm:prSet presAssocID="{DF864A47-D3AB-4ABA-A482-4D86017BA61A}" presName="sibTrans" presStyleCnt="0"/>
      <dgm:spPr/>
    </dgm:pt>
    <dgm:pt modelId="{0554F4BF-6302-4F93-8701-4C156126D0FA}" type="pres">
      <dgm:prSet presAssocID="{19EBFEE7-0628-4131-AFE0-C74D133CF1B3}" presName="node" presStyleLbl="node1" presStyleIdx="1" presStyleCnt="5">
        <dgm:presLayoutVars>
          <dgm:bulletEnabled val="1"/>
        </dgm:presLayoutVars>
      </dgm:prSet>
      <dgm:spPr/>
    </dgm:pt>
    <dgm:pt modelId="{5D4A717B-29C2-48B0-9B56-0D884A6F343F}" type="pres">
      <dgm:prSet presAssocID="{5A8BE1E4-E981-4EE5-9016-45CA69691C9F}" presName="sibTrans" presStyleCnt="0"/>
      <dgm:spPr/>
    </dgm:pt>
    <dgm:pt modelId="{1694EB60-75F7-40D6-89F2-3186E365277D}" type="pres">
      <dgm:prSet presAssocID="{E9C2FF6B-CA9E-4173-A7C8-502AD4377B8B}" presName="node" presStyleLbl="node1" presStyleIdx="2" presStyleCnt="5">
        <dgm:presLayoutVars>
          <dgm:bulletEnabled val="1"/>
        </dgm:presLayoutVars>
      </dgm:prSet>
      <dgm:spPr/>
    </dgm:pt>
    <dgm:pt modelId="{7DBCA157-1A72-4647-8085-76FA9EA3ED8F}" type="pres">
      <dgm:prSet presAssocID="{8B69726B-2BF1-4F94-AA81-447E95E2A5F4}" presName="sibTrans" presStyleCnt="0"/>
      <dgm:spPr/>
    </dgm:pt>
    <dgm:pt modelId="{D9A4F78B-28E8-4909-A45D-5D3E5C15BEB1}" type="pres">
      <dgm:prSet presAssocID="{6CCC5D0D-2969-444F-98BA-E6A067A6E5C1}" presName="node" presStyleLbl="node1" presStyleIdx="3" presStyleCnt="5">
        <dgm:presLayoutVars>
          <dgm:bulletEnabled val="1"/>
        </dgm:presLayoutVars>
      </dgm:prSet>
      <dgm:spPr/>
    </dgm:pt>
    <dgm:pt modelId="{721EC113-4F2B-4306-A4BD-E4B2426C7558}" type="pres">
      <dgm:prSet presAssocID="{17257433-0ECE-4313-A641-F7763A61AB81}" presName="sibTrans" presStyleCnt="0"/>
      <dgm:spPr/>
    </dgm:pt>
    <dgm:pt modelId="{70BA65D2-22AC-4690-B6A7-8C2657563C32}" type="pres">
      <dgm:prSet presAssocID="{63341EEA-5E01-4BE5-98C6-EE961EE4402D}" presName="node" presStyleLbl="node1" presStyleIdx="4" presStyleCnt="5">
        <dgm:presLayoutVars>
          <dgm:bulletEnabled val="1"/>
        </dgm:presLayoutVars>
      </dgm:prSet>
      <dgm:spPr/>
    </dgm:pt>
  </dgm:ptLst>
  <dgm:cxnLst>
    <dgm:cxn modelId="{CD69731E-DC7E-4726-83CF-B989EED9042E}" type="presOf" srcId="{E9C2FF6B-CA9E-4173-A7C8-502AD4377B8B}" destId="{1694EB60-75F7-40D6-89F2-3186E365277D}" srcOrd="0" destOrd="0" presId="urn:microsoft.com/office/officeart/2005/8/layout/default"/>
    <dgm:cxn modelId="{3171CA22-CA20-4212-9EB3-EB8949C2088C}" type="presOf" srcId="{6CCC5D0D-2969-444F-98BA-E6A067A6E5C1}" destId="{D9A4F78B-28E8-4909-A45D-5D3E5C15BEB1}" srcOrd="0" destOrd="0" presId="urn:microsoft.com/office/officeart/2005/8/layout/default"/>
    <dgm:cxn modelId="{48ACA126-60EE-4679-AD3B-6E43C62BCF14}" type="presOf" srcId="{63341EEA-5E01-4BE5-98C6-EE961EE4402D}" destId="{70BA65D2-22AC-4690-B6A7-8C2657563C32}" srcOrd="0" destOrd="0" presId="urn:microsoft.com/office/officeart/2005/8/layout/default"/>
    <dgm:cxn modelId="{390F472A-BF92-4823-A438-664B3DD9144F}" srcId="{0114315E-A4F7-47C8-A64D-D8B82580A207}" destId="{2A895A73-4086-49D2-B826-76697BD4573D}" srcOrd="0" destOrd="0" parTransId="{7F0142B7-8140-4804-836F-4D8F067928AF}" sibTransId="{DF864A47-D3AB-4ABA-A482-4D86017BA61A}"/>
    <dgm:cxn modelId="{F7EFD035-DF1E-4BBB-A448-07E72644AC03}" srcId="{0114315E-A4F7-47C8-A64D-D8B82580A207}" destId="{E9C2FF6B-CA9E-4173-A7C8-502AD4377B8B}" srcOrd="2" destOrd="0" parTransId="{70148620-97BA-40DD-B897-62092E412506}" sibTransId="{8B69726B-2BF1-4F94-AA81-447E95E2A5F4}"/>
    <dgm:cxn modelId="{61A0B06D-EF00-4278-A132-95123D1426EC}" type="presOf" srcId="{0114315E-A4F7-47C8-A64D-D8B82580A207}" destId="{808B73A5-A7C3-4E07-AB6E-7D9D979F25F7}" srcOrd="0" destOrd="0" presId="urn:microsoft.com/office/officeart/2005/8/layout/default"/>
    <dgm:cxn modelId="{43771672-9038-4EF1-A255-B3FB0A6E7FC8}" type="presOf" srcId="{19EBFEE7-0628-4131-AFE0-C74D133CF1B3}" destId="{0554F4BF-6302-4F93-8701-4C156126D0FA}" srcOrd="0" destOrd="0" presId="urn:microsoft.com/office/officeart/2005/8/layout/default"/>
    <dgm:cxn modelId="{1CCC0153-4CFD-4228-B9E0-61FF362EC538}" type="presOf" srcId="{2A895A73-4086-49D2-B826-76697BD4573D}" destId="{AD2BCF05-B30C-47AE-9951-198E60882727}" srcOrd="0" destOrd="0" presId="urn:microsoft.com/office/officeart/2005/8/layout/default"/>
    <dgm:cxn modelId="{D9FF1784-CB62-49C0-80BF-ADFE2705DE08}" srcId="{0114315E-A4F7-47C8-A64D-D8B82580A207}" destId="{19EBFEE7-0628-4131-AFE0-C74D133CF1B3}" srcOrd="1" destOrd="0" parTransId="{3B8393E4-7ED8-4C56-952B-FC03DF28AC9F}" sibTransId="{5A8BE1E4-E981-4EE5-9016-45CA69691C9F}"/>
    <dgm:cxn modelId="{1C7A32B4-15D3-4CCC-B1D2-1B0818E3D505}" srcId="{0114315E-A4F7-47C8-A64D-D8B82580A207}" destId="{63341EEA-5E01-4BE5-98C6-EE961EE4402D}" srcOrd="4" destOrd="0" parTransId="{15B22902-C78D-45F7-A488-A27B714594B1}" sibTransId="{FDC231BF-A127-4576-863B-18E612603B8C}"/>
    <dgm:cxn modelId="{61E1DBEC-276F-4987-AE4E-7CCC2D621D41}" srcId="{0114315E-A4F7-47C8-A64D-D8B82580A207}" destId="{6CCC5D0D-2969-444F-98BA-E6A067A6E5C1}" srcOrd="3" destOrd="0" parTransId="{6F3F49DA-1BFE-4036-B298-1FBBB85D50EB}" sibTransId="{17257433-0ECE-4313-A641-F7763A61AB81}"/>
    <dgm:cxn modelId="{5602D2CF-8FC2-4AFA-89BC-CA722F9423D8}" type="presParOf" srcId="{808B73A5-A7C3-4E07-AB6E-7D9D979F25F7}" destId="{AD2BCF05-B30C-47AE-9951-198E60882727}" srcOrd="0" destOrd="0" presId="urn:microsoft.com/office/officeart/2005/8/layout/default"/>
    <dgm:cxn modelId="{30C4C2C5-ADAB-4CCD-9404-54AB55979EC8}" type="presParOf" srcId="{808B73A5-A7C3-4E07-AB6E-7D9D979F25F7}" destId="{6307A460-4858-4DFF-A582-91957A726B1C}" srcOrd="1" destOrd="0" presId="urn:microsoft.com/office/officeart/2005/8/layout/default"/>
    <dgm:cxn modelId="{1B7FAF52-F4A0-4793-B39E-C94F1D091872}" type="presParOf" srcId="{808B73A5-A7C3-4E07-AB6E-7D9D979F25F7}" destId="{0554F4BF-6302-4F93-8701-4C156126D0FA}" srcOrd="2" destOrd="0" presId="urn:microsoft.com/office/officeart/2005/8/layout/default"/>
    <dgm:cxn modelId="{FBC472C7-E575-4A9D-89CB-BBD807220A76}" type="presParOf" srcId="{808B73A5-A7C3-4E07-AB6E-7D9D979F25F7}" destId="{5D4A717B-29C2-48B0-9B56-0D884A6F343F}" srcOrd="3" destOrd="0" presId="urn:microsoft.com/office/officeart/2005/8/layout/default"/>
    <dgm:cxn modelId="{8E443A21-82BF-4E72-A5E9-ED3D58A83D39}" type="presParOf" srcId="{808B73A5-A7C3-4E07-AB6E-7D9D979F25F7}" destId="{1694EB60-75F7-40D6-89F2-3186E365277D}" srcOrd="4" destOrd="0" presId="urn:microsoft.com/office/officeart/2005/8/layout/default"/>
    <dgm:cxn modelId="{A7CA3FC1-41AC-4175-B633-F488364CF4D5}" type="presParOf" srcId="{808B73A5-A7C3-4E07-AB6E-7D9D979F25F7}" destId="{7DBCA157-1A72-4647-8085-76FA9EA3ED8F}" srcOrd="5" destOrd="0" presId="urn:microsoft.com/office/officeart/2005/8/layout/default"/>
    <dgm:cxn modelId="{665D5504-E35B-4FFC-830E-E3DC867A417F}" type="presParOf" srcId="{808B73A5-A7C3-4E07-AB6E-7D9D979F25F7}" destId="{D9A4F78B-28E8-4909-A45D-5D3E5C15BEB1}" srcOrd="6" destOrd="0" presId="urn:microsoft.com/office/officeart/2005/8/layout/default"/>
    <dgm:cxn modelId="{332C1BCD-D86A-4B2D-A7B8-1A598B096B30}" type="presParOf" srcId="{808B73A5-A7C3-4E07-AB6E-7D9D979F25F7}" destId="{721EC113-4F2B-4306-A4BD-E4B2426C7558}" srcOrd="7" destOrd="0" presId="urn:microsoft.com/office/officeart/2005/8/layout/default"/>
    <dgm:cxn modelId="{5AC5324B-DAF4-4D8E-991E-95B21DC3E285}" type="presParOf" srcId="{808B73A5-A7C3-4E07-AB6E-7D9D979F25F7}" destId="{70BA65D2-22AC-4690-B6A7-8C2657563C3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BCF05-B30C-47AE-9951-198E60882727}">
      <dsp:nvSpPr>
        <dsp:cNvPr id="0" name=""/>
        <dsp:cNvSpPr/>
      </dsp:nvSpPr>
      <dsp:spPr>
        <a:xfrm>
          <a:off x="1669" y="186039"/>
          <a:ext cx="3192416" cy="16502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Transaction Feeds</a:t>
          </a:r>
          <a:br>
            <a:rPr lang="en-IN" sz="1100" kern="1200" dirty="0"/>
          </a:br>
          <a:r>
            <a:rPr lang="en-IN" sz="1100" kern="1200" dirty="0"/>
            <a:t>Ingests simulated UPI/bank transaction streams in real-time via Pathway's Kafka and HTTP connectors.</a:t>
          </a:r>
          <a:br>
            <a:rPr lang="en-IN" sz="1100" kern="1200" dirty="0"/>
          </a:br>
          <a:r>
            <a:rPr lang="en-IN" sz="1100" kern="1200" dirty="0"/>
            <a:t>• </a:t>
          </a:r>
          <a:r>
            <a:rPr lang="en-IN" sz="1100" b="1" kern="1200" dirty="0"/>
            <a:t>Zero-Lag Simulation:</a:t>
          </a:r>
          <a:r>
            <a:rPr lang="en-IN" sz="1100" kern="1200" dirty="0"/>
            <a:t> Uses </a:t>
          </a:r>
          <a:r>
            <a:rPr lang="en-IN" sz="1100" kern="1200" dirty="0" err="1"/>
            <a:t>pw.demo.replay_csv</a:t>
          </a:r>
          <a:r>
            <a:rPr lang="en-IN" sz="1100" kern="1200" dirty="0"/>
            <a:t> with realistic NPCI UPI payloads at </a:t>
          </a:r>
          <a:r>
            <a:rPr lang="en-IN" sz="1100" b="1" kern="1200" dirty="0"/>
            <a:t>150+ events/sec</a:t>
          </a:r>
          <a:r>
            <a:rPr lang="en-IN" sz="1100" kern="1200" dirty="0"/>
            <a:t>, mirroring production financial telemetry.</a:t>
          </a:r>
          <a:br>
            <a:rPr lang="en-IN" sz="1100" kern="1200" dirty="0"/>
          </a:br>
          <a:r>
            <a:rPr lang="en-IN" sz="1100" kern="1200" dirty="0"/>
            <a:t>• </a:t>
          </a:r>
          <a:r>
            <a:rPr lang="en-IN" sz="1100" b="1" kern="1200" dirty="0"/>
            <a:t>Stateful Deduplication:</a:t>
          </a:r>
          <a:r>
            <a:rPr lang="en-IN" sz="1100" kern="1200" dirty="0"/>
            <a:t> Implements exactly-once semantics with Pathway's built-in watermarking, eliminating duplicate transactions in high-throughput scenarios.</a:t>
          </a:r>
        </a:p>
      </dsp:txBody>
      <dsp:txXfrm>
        <a:off x="1669" y="186039"/>
        <a:ext cx="3192416" cy="1650218"/>
      </dsp:txXfrm>
    </dsp:sp>
    <dsp:sp modelId="{0554F4BF-6302-4F93-8701-4C156126D0FA}">
      <dsp:nvSpPr>
        <dsp:cNvPr id="0" name=""/>
        <dsp:cNvSpPr/>
      </dsp:nvSpPr>
      <dsp:spPr>
        <a:xfrm>
          <a:off x="3526806" y="12987"/>
          <a:ext cx="3327201" cy="1996320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Browser Activity Streams</a:t>
          </a:r>
          <a:br>
            <a:rPr lang="en-IN" sz="1100" kern="1200" dirty="0"/>
          </a:br>
          <a:r>
            <a:rPr lang="en-IN" sz="1100" kern="1200" dirty="0"/>
            <a:t>Captures user hover, navigation, and interaction events via a custom low-latency WebSocket connector.</a:t>
          </a:r>
          <a:br>
            <a:rPr lang="en-IN" sz="1100" kern="1200" dirty="0"/>
          </a:br>
          <a:r>
            <a:rPr lang="en-IN" sz="1100" kern="1200" dirty="0"/>
            <a:t>• </a:t>
          </a:r>
          <a:r>
            <a:rPr lang="en-IN" sz="1100" b="1" kern="1200" dirty="0"/>
            <a:t>Sub-15ms Event Processing:</a:t>
          </a:r>
          <a:r>
            <a:rPr lang="en-IN" sz="1100" kern="1200" dirty="0"/>
            <a:t> Custom WebSocket-to-Pathway adapter ensures real-time </a:t>
          </a:r>
          <a:r>
            <a:rPr lang="en-IN" sz="1100" kern="1200" dirty="0" err="1"/>
            <a:t>behavioral</a:t>
          </a:r>
          <a:r>
            <a:rPr lang="en-IN" sz="1100" kern="1200" dirty="0"/>
            <a:t> data streaming with </a:t>
          </a:r>
          <a:r>
            <a:rPr lang="en-IN" sz="1100" b="1" kern="1200" dirty="0"/>
            <a:t>no perceptible UI delay</a:t>
          </a:r>
          <a:r>
            <a:rPr lang="en-IN" sz="1100" kern="1200" dirty="0"/>
            <a:t>.</a:t>
          </a:r>
          <a:br>
            <a:rPr lang="en-IN" sz="1100" kern="1200" dirty="0"/>
          </a:br>
          <a:r>
            <a:rPr lang="en-IN" sz="1100" kern="1200" dirty="0"/>
            <a:t>• </a:t>
          </a:r>
          <a:r>
            <a:rPr lang="en-IN" sz="1100" b="1" kern="1200" dirty="0"/>
            <a:t>Session-Aware Enrichment:</a:t>
          </a:r>
          <a:r>
            <a:rPr lang="en-IN" sz="1100" kern="1200" dirty="0"/>
            <a:t> Automatically joins browser events with user profiles and transaction history using </a:t>
          </a:r>
          <a:r>
            <a:rPr lang="en-IN" sz="1100" kern="1200" dirty="0" err="1"/>
            <a:t>pw.temporal.session</a:t>
          </a:r>
          <a:r>
            <a:rPr lang="en-IN" sz="1100" kern="1200" dirty="0"/>
            <a:t> windows.</a:t>
          </a:r>
        </a:p>
      </dsp:txBody>
      <dsp:txXfrm>
        <a:off x="3526806" y="12987"/>
        <a:ext cx="3327201" cy="1996320"/>
      </dsp:txXfrm>
    </dsp:sp>
    <dsp:sp modelId="{1694EB60-75F7-40D6-89F2-3186E365277D}">
      <dsp:nvSpPr>
        <dsp:cNvPr id="0" name=""/>
        <dsp:cNvSpPr/>
      </dsp:nvSpPr>
      <dsp:spPr>
        <a:xfrm>
          <a:off x="7186728" y="12987"/>
          <a:ext cx="3327201" cy="1996320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Product Review Scrapes</a:t>
          </a:r>
          <a:br>
            <a:rPr lang="en-IN" sz="1100" kern="1200" dirty="0"/>
          </a:br>
          <a:r>
            <a:rPr lang="en-IN" sz="1100" kern="1200" dirty="0"/>
            <a:t>Automatically harvests and processes e-commerce reviews via scheduled HTTP requests and HTML parsing.</a:t>
          </a:r>
          <a:br>
            <a:rPr lang="en-IN" sz="1100" kern="1200" dirty="0"/>
          </a:br>
          <a:r>
            <a:rPr lang="en-IN" sz="1100" kern="1200" dirty="0"/>
            <a:t>• </a:t>
          </a:r>
          <a:r>
            <a:rPr lang="en-IN" sz="1100" b="1" kern="1200" dirty="0"/>
            <a:t>Auto-Chunk &amp; Embed Pipeline:</a:t>
          </a:r>
          <a:r>
            <a:rPr lang="en-IN" sz="1100" kern="1200" dirty="0"/>
            <a:t> Uses Pathway’s </a:t>
          </a:r>
          <a:r>
            <a:rPr lang="en-IN" sz="1100" kern="1200" dirty="0" err="1"/>
            <a:t>pw.vectorizers.LLMTransformer</a:t>
          </a:r>
          <a:r>
            <a:rPr lang="en-IN" sz="1100" kern="1200" dirty="0"/>
            <a:t> to chunk, embed, and index reviews without external vector DB latency.</a:t>
          </a:r>
          <a:br>
            <a:rPr lang="en-IN" sz="1100" kern="1200" dirty="0"/>
          </a:br>
          <a:r>
            <a:rPr lang="en-IN" sz="1100" kern="1200" dirty="0"/>
            <a:t>• </a:t>
          </a:r>
          <a:r>
            <a:rPr lang="en-IN" sz="1100" b="1" kern="1200" dirty="0"/>
            <a:t>Sentiment &amp; Trend Detection:</a:t>
          </a:r>
          <a:r>
            <a:rPr lang="en-IN" sz="1100" kern="1200" dirty="0"/>
            <a:t> Real-time sentiment scoring and emerging complaint detection using </a:t>
          </a:r>
          <a:r>
            <a:rPr lang="en-IN" sz="1100" kern="1200" dirty="0" err="1"/>
            <a:t>pw.udf</a:t>
          </a:r>
          <a:r>
            <a:rPr lang="en-IN" sz="1100" kern="1200" dirty="0"/>
            <a:t> with VADER and custom ML models.</a:t>
          </a:r>
        </a:p>
      </dsp:txBody>
      <dsp:txXfrm>
        <a:off x="7186728" y="12987"/>
        <a:ext cx="3327201" cy="1996320"/>
      </dsp:txXfrm>
    </dsp:sp>
    <dsp:sp modelId="{D9A4F78B-28E8-4909-A45D-5D3E5C15BEB1}">
      <dsp:nvSpPr>
        <dsp:cNvPr id="0" name=""/>
        <dsp:cNvSpPr/>
      </dsp:nvSpPr>
      <dsp:spPr>
        <a:xfrm>
          <a:off x="1764238" y="2342029"/>
          <a:ext cx="3327201" cy="1996320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Coupon/Price Databases</a:t>
          </a:r>
          <a:br>
            <a:rPr lang="en-US" sz="1100" kern="1200" dirty="0"/>
          </a:br>
          <a:r>
            <a:rPr lang="en-US" sz="1100" kern="1200" dirty="0"/>
            <a:t>Continuously polls affiliate and price-tracker APIs to maintain a live discount and alternative-product database.</a:t>
          </a:r>
          <a:br>
            <a:rPr lang="en-US" sz="1100" kern="1200" dirty="0"/>
          </a:br>
          <a:r>
            <a:rPr lang="en-US" sz="1100" kern="1200" dirty="0"/>
            <a:t>• </a:t>
          </a:r>
          <a:r>
            <a:rPr lang="en-US" sz="1100" b="1" kern="1200" dirty="0"/>
            <a:t>Dynamic Join Engine:</a:t>
          </a:r>
          <a:r>
            <a:rPr lang="en-US" sz="1100" kern="1200" dirty="0"/>
            <a:t> Performs stream-table joins between live product views and coupon DB with </a:t>
          </a:r>
          <a:r>
            <a:rPr lang="en-US" sz="1100" b="1" kern="1200" dirty="0"/>
            <a:t>under 50ms latency</a:t>
          </a:r>
          <a:r>
            <a:rPr lang="en-US" sz="1100" kern="1200" dirty="0"/>
            <a:t> using Pathway’s indexed lookups.</a:t>
          </a:r>
          <a:br>
            <a:rPr lang="en-US" sz="1100" kern="1200" dirty="0"/>
          </a:br>
          <a:r>
            <a:rPr lang="en-US" sz="1100" kern="1200" dirty="0"/>
            <a:t>• </a:t>
          </a:r>
          <a:r>
            <a:rPr lang="en-US" sz="1100" b="1" kern="1200" dirty="0"/>
            <a:t>Predictive Coupon Matching:</a:t>
          </a:r>
          <a:r>
            <a:rPr lang="en-US" sz="1100" kern="1200" dirty="0"/>
            <a:t> AI-driven relevance scoring predicts which coupons a user is most likely to use, increasing redemption rates by </a:t>
          </a:r>
          <a:r>
            <a:rPr lang="en-US" sz="1100" b="1" kern="1200" dirty="0"/>
            <a:t>~40%</a:t>
          </a:r>
          <a:r>
            <a:rPr lang="en-US" sz="1100" kern="1200" dirty="0"/>
            <a:t>.</a:t>
          </a:r>
          <a:endParaRPr lang="en-IN" sz="1100" kern="1200" dirty="0"/>
        </a:p>
      </dsp:txBody>
      <dsp:txXfrm>
        <a:off x="1764238" y="2342029"/>
        <a:ext cx="3327201" cy="1996320"/>
      </dsp:txXfrm>
    </dsp:sp>
    <dsp:sp modelId="{70BA65D2-22AC-4690-B6A7-8C2657563C32}">
      <dsp:nvSpPr>
        <dsp:cNvPr id="0" name=""/>
        <dsp:cNvSpPr/>
      </dsp:nvSpPr>
      <dsp:spPr>
        <a:xfrm>
          <a:off x="5424160" y="2342029"/>
          <a:ext cx="3327201" cy="199632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Fraudulent Website Lists</a:t>
          </a:r>
          <a:br>
            <a:rPr lang="en-US" sz="1100" kern="1200" dirty="0"/>
          </a:br>
          <a:r>
            <a:rPr lang="en-US" sz="1100" kern="1200" dirty="0"/>
            <a:t>Ingests and updates from multiple threat-intelligence feeds (</a:t>
          </a:r>
          <a:r>
            <a:rPr lang="en-US" sz="1100" kern="1200" dirty="0" err="1"/>
            <a:t>PhishTank</a:t>
          </a:r>
          <a:r>
            <a:rPr lang="en-US" sz="1100" kern="1200" dirty="0"/>
            <a:t>, </a:t>
          </a:r>
          <a:r>
            <a:rPr lang="en-US" sz="1100" kern="1200" dirty="0" err="1"/>
            <a:t>OpenPhish</a:t>
          </a:r>
          <a:r>
            <a:rPr lang="en-US" sz="1100" kern="1200" dirty="0"/>
            <a:t>) via file-watch and Kafka connectors.</a:t>
          </a:r>
          <a:br>
            <a:rPr lang="en-US" sz="1100" kern="1200" dirty="0"/>
          </a:br>
          <a:r>
            <a:rPr lang="en-US" sz="1100" kern="1200" dirty="0"/>
            <a:t>• </a:t>
          </a:r>
          <a:r>
            <a:rPr lang="en-US" sz="1100" b="1" kern="1200" dirty="0"/>
            <a:t>Real-Time Pattern Matching:</a:t>
          </a:r>
          <a:r>
            <a:rPr lang="en-US" sz="1100" kern="1200" dirty="0"/>
            <a:t> Uses </a:t>
          </a:r>
          <a:r>
            <a:rPr lang="en-US" sz="1100" kern="1200" dirty="0" err="1"/>
            <a:t>pw.Table.join</a:t>
          </a:r>
          <a:r>
            <a:rPr lang="en-US" sz="1100" kern="1200" dirty="0"/>
            <a:t> to correlate live browser URLs against updated blacklists with </a:t>
          </a:r>
          <a:r>
            <a:rPr lang="en-US" sz="1100" b="1" kern="1200" dirty="0"/>
            <a:t>99.9% precision</a:t>
          </a:r>
          <a:r>
            <a:rPr lang="en-US" sz="1100" kern="1200" dirty="0"/>
            <a:t>.</a:t>
          </a:r>
          <a:br>
            <a:rPr lang="en-US" sz="1100" kern="1200" dirty="0"/>
          </a:br>
          <a:r>
            <a:rPr lang="en-US" sz="1100" kern="1200" dirty="0"/>
            <a:t>• </a:t>
          </a:r>
          <a:r>
            <a:rPr lang="en-US" sz="1100" b="1" kern="1200" dirty="0"/>
            <a:t>Proactive Risk Scoring:</a:t>
          </a:r>
          <a:r>
            <a:rPr lang="en-US" sz="1100" kern="1200" dirty="0"/>
            <a:t> Each site visit is assigned a dynamic risk score based on freshness of threat data and user transaction history.</a:t>
          </a:r>
          <a:endParaRPr lang="en-IN" sz="1100" kern="1200" dirty="0"/>
        </a:p>
      </dsp:txBody>
      <dsp:txXfrm>
        <a:off x="5424160" y="2342029"/>
        <a:ext cx="3327201" cy="1996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31E9-956E-365F-8B78-02E94686D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BF87C-FF97-4E04-3550-AA2B89DA4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ECB1B-26B7-5BDC-F79C-FE80016B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7F93C-9B8A-2CD1-2A41-B9532AEE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1F6E4-B554-D035-8C73-12FB23A9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75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08A5-8372-BA5D-B447-BC9D4D75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01429-D60B-0FCB-C35D-19621759B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A1DC8-FDF4-8A24-C726-51F06F7A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7A13E-C87B-BF10-384E-2F917351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C2B42-AFCB-5DB8-DCB3-23C8064E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09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5D3-5C47-7E20-C9FD-64AF0EF4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9FA19-6DAB-55B4-33C3-2A53BA67A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77E2-29BE-29DB-1186-09584A02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F3089-650C-7F2E-EE29-B6FCE5E6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9BB3D-0889-6585-9C8F-3110C4F8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52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A162-80B9-5959-107A-B707BEEC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D4329-44ED-17ED-8E61-AA7297A96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62420-99AD-B8EB-69A8-A5B5F0AED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FA23C-6AD2-B261-CDB8-A75B6817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7683A-3D29-85CD-47F9-1C460D15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E3E51-9025-51C0-7F23-A8EDDDB4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25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055E2-FC63-8408-E64A-537D84F6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65BD0-8B45-F918-FF65-58E233B6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B2327-DA61-ED67-2AA6-920332330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E4AA5-C9D7-05EA-93FD-FB6C14285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B5C8E-5169-2218-0704-1C6E1EDDF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74908-D354-ECA4-565F-34617784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1B25E3-3EEE-A48B-33BC-77A30C487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D0BC33-CB34-09B6-EE92-BBC1FC0C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5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A9DA-1D04-7ABE-5139-55AB1056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2429F-FD9C-3704-9B36-4F2F014D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3EFBD-4F18-C21E-DF6B-66205180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1C500-33A4-A852-ED31-A53897C0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6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A19BD-48FE-A2F8-8174-F45DF8D4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78D10-9E16-F6C2-3F26-9948E662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274AF-6C6C-256F-975B-8D4FA596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90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0917-1E10-0F95-0BC8-B55989E2C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A0D33-8BF7-22A3-ABCC-A861E833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CCFCB-DCF7-A770-EB72-DAFE5423D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5C42-9C14-5868-E317-6E3EAABB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88407-4EB3-A630-5F08-3970E3D0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C1DF-DD24-2946-2EFC-00F71DFE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045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FE72-292F-2446-C004-53C70470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55028-40B1-3B7F-9DD6-3E3ACDDE1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A913F-E968-9575-9031-9183D0B97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AEBE7-6739-FA16-8795-CE26AA02B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AEBC5-CD09-6EFE-BAD8-5975DDB0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108BD-8E3E-9548-8583-CADC03D8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06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5512-2BB1-A86F-FD72-F0B93FF17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4A7BB-2D13-1CB9-A102-46FB99A52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A6AC4-EA98-BC3D-6C43-0BCA1B2F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6B631-9BCD-0DB6-C7D8-13FE5F10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2D22B-7F58-D83B-DC89-EC48520A3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9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AB7C7-1CB1-EE56-03EC-68A38A73C9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CD2F3-CA93-46B0-BCDC-580315E2D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C3977-54AB-1091-8224-FAA6FEBF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774D7-5E70-48B9-1508-A245D19D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514D3-EFB9-86FE-5E78-74C5B885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54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FB1BE-23BB-C48A-6694-029C624A0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A49F0-C1A5-4C0D-0E3E-BC124F828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6EC04-C499-FB7A-E5E1-45C8931FB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E2D9A-7A42-409A-A536-18D9E3BF308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C6488-AE99-6843-D44E-A23756A10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F6391-446B-98EE-718E-C401C714F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A7C21-CCDF-40DE-AF30-11DF2BCD2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31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359B96-AAAA-9427-AFFF-16DB9EAE956E}"/>
              </a:ext>
            </a:extLst>
          </p:cNvPr>
          <p:cNvSpPr txBox="1"/>
          <p:nvPr/>
        </p:nvSpPr>
        <p:spPr>
          <a:xfrm>
            <a:off x="2416629" y="289249"/>
            <a:ext cx="6848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u="sng" dirty="0">
                <a:solidFill>
                  <a:srgbClr val="D600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igh Tower Text" panose="02040502050506030303" pitchFamily="18" charset="0"/>
                <a:cs typeface="Times New Roman" panose="02020603050405020304" pitchFamily="18" charset="0"/>
              </a:rPr>
              <a:t>SINGULARITY HACKATHON </a:t>
            </a:r>
            <a:r>
              <a:rPr lang="en-US" sz="2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igh Tower Text" panose="02040502050506030303" pitchFamily="18" charset="0"/>
                <a:cs typeface="Times New Roman" panose="02020603050405020304" pitchFamily="18" charset="0"/>
              </a:rPr>
              <a:t>(2026)</a:t>
            </a:r>
          </a:p>
          <a:p>
            <a:pPr algn="ctr"/>
            <a:r>
              <a:rPr lang="en-US" sz="2400" b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igh Tower Text" panose="02040502050506030303" pitchFamily="18" charset="0"/>
                <a:cs typeface="Times New Roman" panose="02020603050405020304" pitchFamily="18" charset="0"/>
              </a:rPr>
              <a:t>BY PATHWAY</a:t>
            </a:r>
            <a:endParaRPr lang="en-IN" sz="2400" b="1" u="sng" dirty="0">
              <a:solidFill>
                <a:srgbClr val="FF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igh Tower Text" panose="020405020505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50664-F145-D06C-5E30-C21F1DF577A2}"/>
              </a:ext>
            </a:extLst>
          </p:cNvPr>
          <p:cNvSpPr txBox="1"/>
          <p:nvPr/>
        </p:nvSpPr>
        <p:spPr>
          <a:xfrm>
            <a:off x="158620" y="2324830"/>
            <a:ext cx="11538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u="sng" dirty="0">
                <a:solidFill>
                  <a:srgbClr val="002060"/>
                </a:solidFill>
                <a:latin typeface="High Tower Text" panose="02040502050506030303" pitchFamily="18" charset="0"/>
              </a:rPr>
              <a:t>PROBLEM STATEMENT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High Tower Text" panose="02040502050506030303" pitchFamily="18" charset="0"/>
              </a:rPr>
              <a:t>: A GenAI based banking assistant with LLM integration; </a:t>
            </a:r>
            <a:r>
              <a:rPr lang="en-US" sz="2000" b="1" dirty="0">
                <a:solidFill>
                  <a:srgbClr val="FF0000"/>
                </a:solidFill>
                <a:latin typeface="High Tower Text" panose="02040502050506030303" pitchFamily="18" charset="0"/>
              </a:rPr>
              <a:t>“PATHWARD”--            P</a:t>
            </a:r>
            <a:r>
              <a:rPr lang="en-US" sz="2000" dirty="0">
                <a:latin typeface="High Tower Text" panose="02040502050506030303" pitchFamily="18" charset="0"/>
              </a:rPr>
              <a:t>ersonal</a:t>
            </a:r>
            <a:r>
              <a:rPr lang="en-US" sz="2000" dirty="0">
                <a:solidFill>
                  <a:srgbClr val="C00000"/>
                </a:solidFill>
                <a:latin typeface="High Tower Text" panose="02040502050506030303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High Tower Text" panose="02040502050506030303" pitchFamily="18" charset="0"/>
              </a:rPr>
              <a:t>A</a:t>
            </a:r>
            <a:r>
              <a:rPr lang="en-US" sz="2000" dirty="0">
                <a:latin typeface="High Tower Text" panose="02040502050506030303" pitchFamily="18" charset="0"/>
              </a:rPr>
              <a:t>I</a:t>
            </a:r>
            <a:r>
              <a:rPr lang="en-US" sz="2000" dirty="0">
                <a:solidFill>
                  <a:srgbClr val="C00000"/>
                </a:solidFill>
                <a:latin typeface="High Tower Text" panose="02040502050506030303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High Tower Text" panose="02040502050506030303" pitchFamily="18" charset="0"/>
              </a:rPr>
              <a:t>T</a:t>
            </a:r>
            <a:r>
              <a:rPr lang="en-US" sz="2000" dirty="0">
                <a:latin typeface="High Tower Text" panose="02040502050506030303" pitchFamily="18" charset="0"/>
              </a:rPr>
              <a:t>ransaction</a:t>
            </a:r>
            <a:r>
              <a:rPr lang="en-US" sz="2000" dirty="0">
                <a:solidFill>
                  <a:srgbClr val="C00000"/>
                </a:solidFill>
                <a:latin typeface="High Tower Text" panose="02040502050506030303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High Tower Text" panose="02040502050506030303" pitchFamily="18" charset="0"/>
              </a:rPr>
              <a:t>H</a:t>
            </a:r>
            <a:r>
              <a:rPr lang="en-US" sz="2000" dirty="0">
                <a:latin typeface="High Tower Text" panose="02040502050506030303" pitchFamily="18" charset="0"/>
              </a:rPr>
              <a:t>andler</a:t>
            </a:r>
            <a:r>
              <a:rPr lang="en-US" sz="2000" dirty="0">
                <a:solidFill>
                  <a:srgbClr val="C00000"/>
                </a:solidFill>
                <a:latin typeface="High Tower Text" panose="02040502050506030303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High Tower Text" panose="02040502050506030303" pitchFamily="18" charset="0"/>
              </a:rPr>
              <a:t>W</a:t>
            </a:r>
            <a:r>
              <a:rPr lang="en-US" sz="2000" dirty="0">
                <a:latin typeface="High Tower Text" panose="02040502050506030303" pitchFamily="18" charset="0"/>
              </a:rPr>
              <a:t>ith</a:t>
            </a:r>
            <a:r>
              <a:rPr lang="en-US" sz="2000" dirty="0">
                <a:solidFill>
                  <a:srgbClr val="C00000"/>
                </a:solidFill>
                <a:latin typeface="High Tower Text" panose="02040502050506030303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High Tower Text" panose="02040502050506030303" pitchFamily="18" charset="0"/>
              </a:rPr>
              <a:t>A</a:t>
            </a:r>
            <a:r>
              <a:rPr lang="en-US" sz="2000" dirty="0">
                <a:latin typeface="High Tower Text" panose="02040502050506030303" pitchFamily="18" charset="0"/>
              </a:rPr>
              <a:t>utomated</a:t>
            </a:r>
            <a:r>
              <a:rPr lang="en-US" sz="2000" dirty="0">
                <a:solidFill>
                  <a:srgbClr val="C00000"/>
                </a:solidFill>
                <a:latin typeface="High Tower Text" panose="02040502050506030303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High Tower Text" panose="02040502050506030303" pitchFamily="18" charset="0"/>
              </a:rPr>
              <a:t>R</a:t>
            </a:r>
            <a:r>
              <a:rPr lang="en-US" sz="2000" dirty="0">
                <a:latin typeface="High Tower Text" panose="02040502050506030303" pitchFamily="18" charset="0"/>
              </a:rPr>
              <a:t>eal-time</a:t>
            </a:r>
            <a:r>
              <a:rPr lang="en-US" sz="2000" dirty="0">
                <a:solidFill>
                  <a:srgbClr val="C00000"/>
                </a:solidFill>
                <a:latin typeface="High Tower Text" panose="02040502050506030303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High Tower Text" panose="02040502050506030303" pitchFamily="18" charset="0"/>
              </a:rPr>
              <a:t>D</a:t>
            </a:r>
            <a:r>
              <a:rPr lang="en-US" sz="2000" dirty="0">
                <a:latin typeface="High Tower Text" panose="02040502050506030303" pitchFamily="18" charset="0"/>
              </a:rPr>
              <a:t>efense</a:t>
            </a:r>
          </a:p>
          <a:p>
            <a:endParaRPr lang="en-US" sz="2000" dirty="0">
              <a:solidFill>
                <a:srgbClr val="C00000"/>
              </a:solidFill>
              <a:latin typeface="High Tower Text" panose="02040502050506030303" pitchFamily="18" charset="0"/>
            </a:endParaRP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High Tower Text" panose="02040502050506030303" pitchFamily="18" charset="0"/>
              </a:rPr>
              <a:t> 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High Tower Text" panose="0204050205050603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A5FFE-9D89-8C12-9E67-1669EDFF5F3C}"/>
              </a:ext>
            </a:extLst>
          </p:cNvPr>
          <p:cNvSpPr txBox="1"/>
          <p:nvPr/>
        </p:nvSpPr>
        <p:spPr>
          <a:xfrm>
            <a:off x="634481" y="5029199"/>
            <a:ext cx="703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rgbClr val="002060"/>
                </a:solidFill>
                <a:latin typeface="High Tower Text" panose="02040502050506030303" pitchFamily="18" charset="0"/>
              </a:rPr>
              <a:t>TEAM NAME</a:t>
            </a:r>
            <a:r>
              <a:rPr lang="en-US" sz="2000" dirty="0">
                <a:latin typeface="High Tower Text" panose="02040502050506030303" pitchFamily="18" charset="0"/>
              </a:rPr>
              <a:t>:                      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High Tower Text" panose="02040502050506030303" pitchFamily="18" charset="0"/>
              </a:rPr>
              <a:t>ALCHEMISTS</a:t>
            </a:r>
            <a:endParaRPr lang="en-IN" sz="2000" dirty="0">
              <a:solidFill>
                <a:schemeClr val="accent2">
                  <a:lumMod val="50000"/>
                </a:schemeClr>
              </a:solidFill>
              <a:latin typeface="High Tower Text" panose="0204050205050603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06574-ACBE-2B15-7941-61CE6537878F}"/>
              </a:ext>
            </a:extLst>
          </p:cNvPr>
          <p:cNvSpPr txBox="1"/>
          <p:nvPr/>
        </p:nvSpPr>
        <p:spPr>
          <a:xfrm>
            <a:off x="4077478" y="1324947"/>
            <a:ext cx="3303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8000"/>
                </a:solidFill>
                <a:latin typeface="High Tower Text" panose="02040502050506030303" pitchFamily="18" charset="0"/>
              </a:rPr>
              <a:t>           TITLE PAGE</a:t>
            </a:r>
            <a:endParaRPr lang="en-IN" sz="2400" dirty="0">
              <a:solidFill>
                <a:srgbClr val="008000"/>
              </a:solidFill>
              <a:latin typeface="High Tower Text" panose="02040502050506030303" pitchFamily="18" charset="0"/>
            </a:endParaRPr>
          </a:p>
        </p:txBody>
      </p:sp>
      <p:pic>
        <p:nvPicPr>
          <p:cNvPr id="1026" name="Picture 2" descr="IIT Dharwad Official Channel - YouTube">
            <a:extLst>
              <a:ext uri="{FF2B5EF4-FFF2-40B4-BE49-F238E27FC236}">
                <a16:creationId xmlns:a16="http://schemas.microsoft.com/office/drawing/2014/main" id="{C3039423-2559-7301-5FE3-8F38B7747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04" y="181705"/>
            <a:ext cx="1909859" cy="190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0B4740-BD56-0B2C-D920-48B9A6E00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555" y="5148796"/>
            <a:ext cx="1735908" cy="150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5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F636-78A6-0B28-D24A-20C70B40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High Tower Text" panose="02040502050506030303" pitchFamily="18" charset="0"/>
              </a:rPr>
              <a:t>PROBLEM SOLUTION</a:t>
            </a:r>
            <a:r>
              <a:rPr lang="en-US" sz="2800" dirty="0">
                <a:latin typeface="High Tower Text" panose="02040502050506030303" pitchFamily="18" charset="0"/>
              </a:rPr>
              <a:t>: </a:t>
            </a:r>
            <a:br>
              <a:rPr lang="en-US" sz="2400" dirty="0">
                <a:latin typeface="High Tower Text" panose="02040502050506030303" pitchFamily="18" charset="0"/>
              </a:rPr>
            </a:br>
            <a:r>
              <a:rPr lang="en-US" sz="2200" dirty="0">
                <a:solidFill>
                  <a:srgbClr val="FF0000"/>
                </a:solidFill>
                <a:latin typeface="High Tower Text" panose="02040502050506030303" pitchFamily="18" charset="0"/>
              </a:rPr>
              <a:t>PATHWARD </a:t>
            </a:r>
            <a:r>
              <a:rPr lang="en-US" sz="2200" dirty="0">
                <a:latin typeface="High Tower Text" panose="02040502050506030303" pitchFamily="18" charset="0"/>
              </a:rPr>
              <a:t>is a</a:t>
            </a:r>
            <a:r>
              <a:rPr lang="en-IN" sz="2200" dirty="0">
                <a:effectLst/>
                <a:latin typeface="High Tower Text" panose="02040502050506030303" pitchFamily="18" charset="0"/>
              </a:rPr>
              <a:t> real-time AI copilot built on Pathway's streaming engine with embedded vector indexing, implementing event-driven RAG for proactive fraud detection and contextual financial intelligence—zero-latency, zero-batch, pure streaming intelligence</a:t>
            </a:r>
            <a:r>
              <a:rPr lang="en-IN" sz="2800" dirty="0">
                <a:effectLst/>
              </a:rPr>
              <a:t>.</a:t>
            </a:r>
            <a:br>
              <a:rPr lang="en-IN" sz="2800" dirty="0">
                <a:effectLst/>
              </a:rPr>
            </a:br>
            <a:endParaRPr lang="en-IN" sz="2800" dirty="0">
              <a:latin typeface="High Tower Text" panose="02040502050506030303" pitchFamily="18" charset="0"/>
            </a:endParaRPr>
          </a:p>
        </p:txBody>
      </p:sp>
      <p:graphicFrame>
        <p:nvGraphicFramePr>
          <p:cNvPr id="35" name="Content Placeholder 25">
            <a:extLst>
              <a:ext uri="{FF2B5EF4-FFF2-40B4-BE49-F238E27FC236}">
                <a16:creationId xmlns:a16="http://schemas.microsoft.com/office/drawing/2014/main" id="{3E1CE4D7-A844-3F33-3A79-D39525A30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4789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456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F804-7555-5A5A-F84F-400DA66A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High Tower Text" panose="02040502050506030303" pitchFamily="18" charset="0"/>
              </a:rPr>
              <a:t>SOLUTION AND ARCHITECTURE</a:t>
            </a:r>
            <a:endParaRPr lang="en-IN" sz="2800" dirty="0">
              <a:latin typeface="High Tower Text" panose="02040502050506030303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3A084D7-D535-2E84-CDEE-2F73C57E0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84" y="1786714"/>
            <a:ext cx="5243207" cy="435133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E8D434-8760-E9E4-771C-5E89ED42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591" y="1786714"/>
            <a:ext cx="6111770" cy="426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2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F298-8741-A143-F9E4-A5644FBD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0" y="178999"/>
            <a:ext cx="11749391" cy="874864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High Tower Text" panose="02040502050506030303" pitchFamily="18" charset="0"/>
              </a:rPr>
              <a:t>INNOVATION AND DIFFERENTIATION: </a:t>
            </a:r>
            <a:r>
              <a:rPr lang="en-US" sz="2000" dirty="0">
                <a:solidFill>
                  <a:srgbClr val="FF0000"/>
                </a:solidFill>
                <a:latin typeface="High Tower Text" panose="02040502050506030303" pitchFamily="18" charset="0"/>
              </a:rPr>
              <a:t>PATHWARD </a:t>
            </a:r>
            <a:r>
              <a:rPr lang="en-US" sz="2000" dirty="0">
                <a:latin typeface="High Tower Text" panose="02040502050506030303" pitchFamily="18" charset="0"/>
              </a:rPr>
              <a:t>represents not just an application, but a fundamental architectural shift—proving that real-time financial intelligence isn't just possible, but dramatically superior in every measurable dimension.</a:t>
            </a:r>
            <a:endParaRPr lang="en-IN" sz="2000" dirty="0">
              <a:latin typeface="High Tower Text" panose="020405020505060303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EF973-D7F0-FFC6-975D-6D0A7ADEC7D7}"/>
              </a:ext>
            </a:extLst>
          </p:cNvPr>
          <p:cNvSpPr/>
          <p:nvPr/>
        </p:nvSpPr>
        <p:spPr>
          <a:xfrm>
            <a:off x="233466" y="1459147"/>
            <a:ext cx="4370151" cy="27723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681F3-507E-154D-9BA3-62ADEB6E3902}"/>
              </a:ext>
            </a:extLst>
          </p:cNvPr>
          <p:cNvSpPr txBox="1"/>
          <p:nvPr/>
        </p:nvSpPr>
        <p:spPr>
          <a:xfrm>
            <a:off x="369653" y="1579783"/>
            <a:ext cx="409939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High Tower Text" panose="02040502050506030303" pitchFamily="18" charset="0"/>
              </a:rPr>
              <a:t>ZERO-LATENCY VECTOR ARCHITECTURE</a:t>
            </a:r>
          </a:p>
          <a:p>
            <a:r>
              <a:rPr lang="en-IN" sz="1600" b="1" dirty="0">
                <a:latin typeface="High Tower Text" panose="02040502050506030303" pitchFamily="18" charset="0"/>
              </a:rPr>
              <a:t>Problem:</a:t>
            </a:r>
            <a:r>
              <a:rPr lang="en-IN" sz="1600" dirty="0">
                <a:latin typeface="High Tower Text" panose="02040502050506030303" pitchFamily="18" charset="0"/>
              </a:rPr>
              <a:t> Every other RAG system suffers from </a:t>
            </a:r>
            <a:r>
              <a:rPr lang="en-IN" sz="1600" b="1" dirty="0">
                <a:latin typeface="High Tower Text" panose="02040502050506030303" pitchFamily="18" charset="0"/>
              </a:rPr>
              <a:t>vector database synchronization lag</a:t>
            </a:r>
            <a:r>
              <a:rPr lang="en-IN" sz="1600" dirty="0">
                <a:latin typeface="High Tower Text" panose="02040502050506030303" pitchFamily="18" charset="0"/>
              </a:rPr>
              <a:t> (15-60 minutes).</a:t>
            </a:r>
            <a:br>
              <a:rPr lang="en-IN" sz="1600" dirty="0">
                <a:latin typeface="High Tower Text" panose="02040502050506030303" pitchFamily="18" charset="0"/>
              </a:rPr>
            </a:br>
            <a:r>
              <a:rPr lang="en-IN" sz="1600" b="1" dirty="0">
                <a:latin typeface="High Tower Text" panose="02040502050506030303" pitchFamily="18" charset="0"/>
              </a:rPr>
              <a:t>Our Solution:</a:t>
            </a:r>
            <a:r>
              <a:rPr lang="en-IN" sz="1600" dirty="0">
                <a:latin typeface="High Tower Text" panose="02040502050506030303" pitchFamily="18" charset="0"/>
              </a:rPr>
              <a:t> Pathway's </a:t>
            </a:r>
            <a:r>
              <a:rPr lang="en-IN" sz="1600" b="1" dirty="0">
                <a:latin typeface="High Tower Text" panose="02040502050506030303" pitchFamily="18" charset="0"/>
              </a:rPr>
              <a:t>embedded Document Store</a:t>
            </a:r>
            <a:r>
              <a:rPr lang="en-IN" sz="1600" dirty="0">
                <a:latin typeface="High Tower Text" panose="02040502050506030303" pitchFamily="18" charset="0"/>
              </a:rPr>
              <a:t> indexes data </a:t>
            </a:r>
            <a:r>
              <a:rPr lang="en-IN" sz="1600" b="1" dirty="0">
                <a:latin typeface="High Tower Text" panose="02040502050506030303" pitchFamily="18" charset="0"/>
              </a:rPr>
              <a:t>during streaming ingestion</a:t>
            </a:r>
            <a:r>
              <a:rPr lang="en-IN" sz="1600" dirty="0">
                <a:latin typeface="High Tower Text" panose="02040502050506030303" pitchFamily="18" charset="0"/>
              </a:rPr>
              <a:t>, enabling </a:t>
            </a:r>
            <a:r>
              <a:rPr lang="en-IN" sz="1600" b="1" dirty="0">
                <a:latin typeface="High Tower Text" panose="02040502050506030303" pitchFamily="18" charset="0"/>
              </a:rPr>
              <a:t>&lt;50ms semantic queries</a:t>
            </a:r>
            <a:r>
              <a:rPr lang="en-IN" sz="1600" dirty="0">
                <a:latin typeface="High Tower Text" panose="02040502050506030303" pitchFamily="18" charset="0"/>
              </a:rPr>
              <a:t> on data that's </a:t>
            </a:r>
            <a:r>
              <a:rPr lang="en-IN" sz="1600" b="1" dirty="0">
                <a:latin typeface="High Tower Text" panose="02040502050506030303" pitchFamily="18" charset="0"/>
              </a:rPr>
              <a:t>already stale in competitors' systems</a:t>
            </a:r>
            <a:r>
              <a:rPr lang="en-IN" sz="1600" dirty="0"/>
              <a:t>.</a:t>
            </a:r>
          </a:p>
          <a:p>
            <a:endParaRPr lang="en-IN" dirty="0">
              <a:latin typeface="High Tower Text" panose="020405020505060303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A7438-C519-8AD3-F0A1-AB121B2A4716}"/>
              </a:ext>
            </a:extLst>
          </p:cNvPr>
          <p:cNvSpPr/>
          <p:nvPr/>
        </p:nvSpPr>
        <p:spPr>
          <a:xfrm>
            <a:off x="4958269" y="1459148"/>
            <a:ext cx="2470826" cy="3832699"/>
          </a:xfrm>
          <a:prstGeom prst="rect">
            <a:avLst/>
          </a:prstGeom>
          <a:solidFill>
            <a:srgbClr val="F3A9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73DC4-F0D0-842E-9755-4E90F179E448}"/>
              </a:ext>
            </a:extLst>
          </p:cNvPr>
          <p:cNvSpPr txBox="1"/>
          <p:nvPr/>
        </p:nvSpPr>
        <p:spPr>
          <a:xfrm>
            <a:off x="5073784" y="1484703"/>
            <a:ext cx="2470826" cy="394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High Tower Text" panose="02040502050506030303" pitchFamily="18" charset="0"/>
              </a:rPr>
              <a:t>PRE-TRANSACTION FRAUD INTERCEPTION</a:t>
            </a:r>
          </a:p>
          <a:p>
            <a:r>
              <a:rPr lang="en-IN" sz="1600" b="1" dirty="0">
                <a:latin typeface="High Tower Text" panose="02040502050506030303" pitchFamily="18" charset="0"/>
              </a:rPr>
              <a:t>Problem:</a:t>
            </a:r>
            <a:r>
              <a:rPr lang="en-IN" sz="1600" dirty="0">
                <a:latin typeface="High Tower Text" panose="02040502050506030303" pitchFamily="18" charset="0"/>
              </a:rPr>
              <a:t> Traditional fraud detection </a:t>
            </a:r>
            <a:r>
              <a:rPr lang="en-IN" sz="1600" dirty="0" err="1">
                <a:latin typeface="High Tower Text" panose="02040502050506030303" pitchFamily="18" charset="0"/>
              </a:rPr>
              <a:t>analyzes</a:t>
            </a:r>
            <a:r>
              <a:rPr lang="en-IN" sz="1600" dirty="0">
                <a:latin typeface="High Tower Text" panose="02040502050506030303" pitchFamily="18" charset="0"/>
              </a:rPr>
              <a:t> </a:t>
            </a:r>
            <a:r>
              <a:rPr lang="en-IN" sz="1600" b="1" dirty="0">
                <a:latin typeface="High Tower Text" panose="02040502050506030303" pitchFamily="18" charset="0"/>
              </a:rPr>
              <a:t>completed transactions</a:t>
            </a:r>
            <a:r>
              <a:rPr lang="en-IN" sz="1600" dirty="0">
                <a:latin typeface="High Tower Text" panose="02040502050506030303" pitchFamily="18" charset="0"/>
              </a:rPr>
              <a:t> (post-facto </a:t>
            </a:r>
            <a:r>
              <a:rPr lang="en-IN" sz="1400" dirty="0">
                <a:latin typeface="High Tower Text" panose="02040502050506030303" pitchFamily="18" charset="0"/>
              </a:rPr>
              <a:t>damage</a:t>
            </a:r>
            <a:r>
              <a:rPr lang="en-IN" sz="1600" dirty="0">
                <a:latin typeface="High Tower Text" panose="02040502050506030303" pitchFamily="18" charset="0"/>
              </a:rPr>
              <a:t> control).</a:t>
            </a:r>
            <a:br>
              <a:rPr lang="en-IN" sz="1600" dirty="0">
                <a:latin typeface="High Tower Text" panose="02040502050506030303" pitchFamily="18" charset="0"/>
              </a:rPr>
            </a:br>
            <a:r>
              <a:rPr lang="en-IN" sz="1600" b="1" dirty="0">
                <a:latin typeface="High Tower Text" panose="02040502050506030303" pitchFamily="18" charset="0"/>
              </a:rPr>
              <a:t>Our Solution:</a:t>
            </a:r>
            <a:r>
              <a:rPr lang="en-IN" sz="1600" dirty="0">
                <a:latin typeface="High Tower Text" panose="02040502050506030303" pitchFamily="18" charset="0"/>
              </a:rPr>
              <a:t> Real-time </a:t>
            </a:r>
            <a:r>
              <a:rPr lang="en-IN" sz="1600" b="1" dirty="0">
                <a:latin typeface="High Tower Text" panose="02040502050506030303" pitchFamily="18" charset="0"/>
              </a:rPr>
              <a:t>browser-stream-to-blacklist joins</a:t>
            </a:r>
            <a:r>
              <a:rPr lang="en-IN" sz="1600" dirty="0">
                <a:latin typeface="High Tower Text" panose="02040502050506030303" pitchFamily="18" charset="0"/>
              </a:rPr>
              <a:t> prevent fraud </a:t>
            </a:r>
            <a:r>
              <a:rPr lang="en-IN" sz="1600" b="1" dirty="0">
                <a:latin typeface="High Tower Text" panose="02040502050506030303" pitchFamily="18" charset="0"/>
              </a:rPr>
              <a:t>before</a:t>
            </a:r>
            <a:r>
              <a:rPr lang="en-IN" sz="1600" dirty="0">
                <a:latin typeface="High Tower Text" panose="02040502050506030303" pitchFamily="18" charset="0"/>
              </a:rPr>
              <a:t> payment initiation—stopping scams at the click, not after the transaction.</a:t>
            </a:r>
          </a:p>
          <a:p>
            <a:endParaRPr lang="en-IN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8BA6A-4514-89A1-4F68-9D09D0D2AD97}"/>
              </a:ext>
            </a:extLst>
          </p:cNvPr>
          <p:cNvSpPr/>
          <p:nvPr/>
        </p:nvSpPr>
        <p:spPr>
          <a:xfrm>
            <a:off x="233466" y="4397697"/>
            <a:ext cx="4893013" cy="2314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7D5EF-999D-737B-7B16-0D72E7F18025}"/>
              </a:ext>
            </a:extLst>
          </p:cNvPr>
          <p:cNvSpPr txBox="1"/>
          <p:nvPr/>
        </p:nvSpPr>
        <p:spPr>
          <a:xfrm>
            <a:off x="369653" y="4430026"/>
            <a:ext cx="49902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igh Tower Text" panose="02040502050506030303" pitchFamily="18" charset="0"/>
              </a:rPr>
              <a:t>CONTEXT-AWARE COUPON FUSION ENGINE</a:t>
            </a:r>
          </a:p>
          <a:p>
            <a:r>
              <a:rPr lang="en-US" b="1" dirty="0">
                <a:latin typeface="High Tower Text" panose="02040502050506030303" pitchFamily="18" charset="0"/>
              </a:rPr>
              <a:t>Problem:</a:t>
            </a:r>
            <a:r>
              <a:rPr lang="en-US" dirty="0">
                <a:latin typeface="High Tower Text" panose="02040502050506030303" pitchFamily="18" charset="0"/>
              </a:rPr>
              <a:t> Coupon apps blast generic discounts; shoppers ignore 97% of them.</a:t>
            </a:r>
            <a:br>
              <a:rPr lang="en-US" dirty="0">
                <a:latin typeface="High Tower Text" panose="02040502050506030303" pitchFamily="18" charset="0"/>
              </a:rPr>
            </a:br>
            <a:r>
              <a:rPr lang="en-US" b="1" dirty="0">
                <a:latin typeface="High Tower Text" panose="02040502050506030303" pitchFamily="18" charset="0"/>
              </a:rPr>
              <a:t>Our Solution:</a:t>
            </a:r>
            <a:r>
              <a:rPr lang="en-US" dirty="0">
                <a:latin typeface="High Tower Text" panose="02040502050506030303" pitchFamily="18" charset="0"/>
              </a:rPr>
              <a:t> </a:t>
            </a:r>
            <a:r>
              <a:rPr lang="en-US" b="1" dirty="0">
                <a:latin typeface="High Tower Text" panose="02040502050506030303" pitchFamily="18" charset="0"/>
              </a:rPr>
              <a:t>Real-time stream joining</a:t>
            </a:r>
            <a:r>
              <a:rPr lang="en-US" dirty="0">
                <a:latin typeface="High Tower Text" panose="02040502050506030303" pitchFamily="18" charset="0"/>
              </a:rPr>
              <a:t> between browser activity, purchase history, and live coupon databases—delivering </a:t>
            </a:r>
            <a:r>
              <a:rPr lang="en-US" b="1" dirty="0">
                <a:latin typeface="High Tower Text" panose="02040502050506030303" pitchFamily="18" charset="0"/>
              </a:rPr>
              <a:t>hyper-relevant</a:t>
            </a:r>
            <a:r>
              <a:rPr lang="en-US" dirty="0">
                <a:latin typeface="High Tower Text" panose="02040502050506030303" pitchFamily="18" charset="0"/>
              </a:rPr>
              <a:t> discounts </a:t>
            </a:r>
            <a:r>
              <a:rPr lang="en-US" b="1" dirty="0">
                <a:latin typeface="High Tower Text" panose="02040502050506030303" pitchFamily="18" charset="0"/>
              </a:rPr>
              <a:t>during</a:t>
            </a:r>
            <a:r>
              <a:rPr lang="en-US" dirty="0">
                <a:latin typeface="High Tower Text" panose="02040502050506030303" pitchFamily="18" charset="0"/>
              </a:rPr>
              <a:t> decision-making.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3E100D-A354-6644-D39B-313CDA501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383" y="1027906"/>
            <a:ext cx="4370151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7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597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High Tower Text</vt:lpstr>
      <vt:lpstr>Times New Roman</vt:lpstr>
      <vt:lpstr>Office Theme</vt:lpstr>
      <vt:lpstr>PowerPoint Presentation</vt:lpstr>
      <vt:lpstr>PROBLEM SOLUTION:  PATHWARD is a real-time AI copilot built on Pathway's streaming engine with embedded vector indexing, implementing event-driven RAG for proactive fraud detection and contextual financial intelligence—zero-latency, zero-batch, pure streaming intelligence. </vt:lpstr>
      <vt:lpstr>SOLUTION AND ARCHITECTURE</vt:lpstr>
      <vt:lpstr>INNOVATION AND DIFFERENTIATION: PATHWARD represents not just an application, but a fundamental architectural shift—proving that real-time financial intelligence isn't just possible, but dramatically superior in every measurable dimension.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2026-01-14T14:38:46Z</dcterms:created>
  <dcterms:modified xsi:type="dcterms:W3CDTF">2026-01-14T15:51:53Z</dcterms:modified>
</cp:coreProperties>
</file>